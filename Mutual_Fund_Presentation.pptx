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g6bx1umIpE6XIrGmS2Qpc+/QxZ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34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365760" y="822960"/>
            <a:ext cx="7315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b="1" lang="en-US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Mutual Fund Analytics</a:t>
            </a:r>
            <a:endParaRPr sz="2000"/>
          </a:p>
        </p:txBody>
      </p:sp>
      <p:sp>
        <p:nvSpPr>
          <p:cNvPr id="86" name="Google Shape;86;p1"/>
          <p:cNvSpPr txBox="1"/>
          <p:nvPr/>
        </p:nvSpPr>
        <p:spPr>
          <a:xfrm>
            <a:off x="457200" y="1645920"/>
            <a:ext cx="7315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Capstone Project | Bluestock Fintech</a:t>
            </a:r>
            <a:endParaRPr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34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365760" y="822960"/>
            <a:ext cx="7315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Objectives</a:t>
            </a:r>
            <a:endParaRPr sz="1900"/>
          </a:p>
        </p:txBody>
      </p:sp>
      <p:sp>
        <p:nvSpPr>
          <p:cNvPr id="93" name="Google Shape;93;p2"/>
          <p:cNvSpPr txBox="1"/>
          <p:nvPr/>
        </p:nvSpPr>
        <p:spPr>
          <a:xfrm>
            <a:off x="457200" y="1645920"/>
            <a:ext cx="7315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EDA, Performance Analytics, Risk Analytics, Power BI Dashboard</a:t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34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365760" y="82296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Sources</a:t>
            </a:r>
            <a:endParaRPr/>
          </a:p>
        </p:txBody>
      </p:sp>
      <p:sp>
        <p:nvSpPr>
          <p:cNvPr id="100" name="Google Shape;100;p3"/>
          <p:cNvSpPr txBox="1"/>
          <p:nvPr/>
        </p:nvSpPr>
        <p:spPr>
          <a:xfrm>
            <a:off x="457200" y="164592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NAV, AUM, SIP, Portfolio Holdings, Investor Transactions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34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365760" y="82296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/>
          </a:p>
        </p:txBody>
      </p:sp>
      <p:sp>
        <p:nvSpPr>
          <p:cNvPr id="107" name="Google Shape;107;p4"/>
          <p:cNvSpPr txBox="1"/>
          <p:nvPr/>
        </p:nvSpPr>
        <p:spPr>
          <a:xfrm>
            <a:off x="457200" y="164592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CSV → Python → SQLite → Power BI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34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365760" y="82296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EDA Insights</a:t>
            </a:r>
            <a:endParaRPr/>
          </a:p>
        </p:txBody>
      </p:sp>
      <p:sp>
        <p:nvSpPr>
          <p:cNvPr id="114" name="Google Shape;114;p5"/>
          <p:cNvSpPr txBox="1"/>
          <p:nvPr/>
        </p:nvSpPr>
        <p:spPr>
          <a:xfrm>
            <a:off x="457200" y="164592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Growth trends, AUM leaders, SIP patterns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34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 txBox="1"/>
          <p:nvPr/>
        </p:nvSpPr>
        <p:spPr>
          <a:xfrm>
            <a:off x="2229010" y="-3203"/>
            <a:ext cx="7315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Industry Overview Dashboard</a:t>
            </a:r>
            <a:endParaRPr/>
          </a:p>
        </p:txBody>
      </p:sp>
      <p:pic>
        <p:nvPicPr>
          <p:cNvPr id="121" name="Google Shape;121;p6" title="Screenshot 2026-06-20 0023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725" y="710850"/>
            <a:ext cx="8870548" cy="6263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34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 txBox="1"/>
          <p:nvPr/>
        </p:nvSpPr>
        <p:spPr>
          <a:xfrm>
            <a:off x="1289560" y="78310"/>
            <a:ext cx="7315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 Analytics</a:t>
            </a:r>
            <a:endParaRPr/>
          </a:p>
        </p:txBody>
      </p:sp>
      <p:pic>
        <p:nvPicPr>
          <p:cNvPr id="128" name="Google Shape;128;p7" title="Screenshot 2026-06-20 0024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86625"/>
            <a:ext cx="8839198" cy="5605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34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1039035" y="-45715"/>
            <a:ext cx="7315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 Analytics</a:t>
            </a:r>
            <a:endParaRPr/>
          </a:p>
        </p:txBody>
      </p:sp>
      <p:pic>
        <p:nvPicPr>
          <p:cNvPr id="135" name="Google Shape;135;p8" title="Screenshot 2026-06-20 0024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20450"/>
            <a:ext cx="8839199" cy="5840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34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 txBox="1"/>
          <p:nvPr/>
        </p:nvSpPr>
        <p:spPr>
          <a:xfrm>
            <a:off x="365760" y="82296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Fund Recommendation Engine</a:t>
            </a:r>
            <a:endParaRPr/>
          </a:p>
        </p:txBody>
      </p:sp>
      <p:pic>
        <p:nvPicPr>
          <p:cNvPr id="142" name="Google Shape;142;p9" title="Screenshot 2026-06-20 0024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06880"/>
            <a:ext cx="8839198" cy="3995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34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 txBox="1"/>
          <p:nvPr/>
        </p:nvSpPr>
        <p:spPr>
          <a:xfrm>
            <a:off x="365760" y="82296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Business Insights</a:t>
            </a:r>
            <a:endParaRPr/>
          </a:p>
        </p:txBody>
      </p:sp>
      <p:sp>
        <p:nvSpPr>
          <p:cNvPr id="149" name="Google Shape;149;p10"/>
          <p:cNvSpPr txBox="1"/>
          <p:nvPr/>
        </p:nvSpPr>
        <p:spPr>
          <a:xfrm>
            <a:off x="457200" y="1645920"/>
            <a:ext cx="7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10" title="Screenshot 2026-06-20 0023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06120"/>
            <a:ext cx="8755912" cy="4599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34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1"/>
          <p:cNvSpPr txBox="1"/>
          <p:nvPr/>
        </p:nvSpPr>
        <p:spPr>
          <a:xfrm>
            <a:off x="365760" y="82296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Challenges &amp; Limitations</a:t>
            </a:r>
            <a:endParaRPr/>
          </a:p>
        </p:txBody>
      </p:sp>
      <p:pic>
        <p:nvPicPr>
          <p:cNvPr id="157" name="Google Shape;15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06880"/>
            <a:ext cx="8839198" cy="3578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34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365760" y="82296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64" name="Google Shape;164;p12"/>
          <p:cNvSpPr txBox="1"/>
          <p:nvPr/>
        </p:nvSpPr>
        <p:spPr>
          <a:xfrm>
            <a:off x="457200" y="1645920"/>
            <a:ext cx="7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12" title="Screenshot 2026-06-20 0023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06120"/>
            <a:ext cx="8755912" cy="4599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